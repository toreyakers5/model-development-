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rey Akers" userId="2f68f68f3a6dd092" providerId="LiveId" clId="{CBB05D19-F4AF-41D5-B69A-BD719AC10F52}"/>
    <pc:docChg chg="modSld">
      <pc:chgData name="Torey Akers" userId="2f68f68f3a6dd092" providerId="LiveId" clId="{CBB05D19-F4AF-41D5-B69A-BD719AC10F52}" dt="2026-05-09T02:55:39.766" v="78" actId="20577"/>
      <pc:docMkLst>
        <pc:docMk/>
      </pc:docMkLst>
      <pc:sldChg chg="modSp mod">
        <pc:chgData name="Torey Akers" userId="2f68f68f3a6dd092" providerId="LiveId" clId="{CBB05D19-F4AF-41D5-B69A-BD719AC10F52}" dt="2026-05-09T02:55:39.766" v="78" actId="20577"/>
        <pc:sldMkLst>
          <pc:docMk/>
          <pc:sldMk cId="1228128708" sldId="260"/>
        </pc:sldMkLst>
        <pc:spChg chg="mod">
          <ac:chgData name="Torey Akers" userId="2f68f68f3a6dd092" providerId="LiveId" clId="{CBB05D19-F4AF-41D5-B69A-BD719AC10F52}" dt="2026-05-09T02:55:39.766" v="78" actId="20577"/>
          <ac:spMkLst>
            <pc:docMk/>
            <pc:sldMk cId="1228128708" sldId="260"/>
            <ac:spMk id="3" creationId="{7ADEAB00-1345-75BF-3218-41602000B1C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2681F64-7728-44D3-B216-D9D74E33F41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9A7CE2-0C3B-4097-9CE1-BE957E6B5FB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713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81F64-7728-44D3-B216-D9D74E33F41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9A7CE2-0C3B-4097-9CE1-BE957E6B5FBE}" type="slidenum">
              <a:rPr lang="en-US" smtClean="0"/>
              <a:t>‹#›</a:t>
            </a:fld>
            <a:endParaRPr lang="en-US"/>
          </a:p>
        </p:txBody>
      </p:sp>
    </p:spTree>
    <p:extLst>
      <p:ext uri="{BB962C8B-B14F-4D97-AF65-F5344CB8AC3E}">
        <p14:creationId xmlns:p14="http://schemas.microsoft.com/office/powerpoint/2010/main" val="3388072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681F64-7728-44D3-B216-D9D74E33F41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9A7CE2-0C3B-4097-9CE1-BE957E6B5FB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3231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681F64-7728-44D3-B216-D9D74E33F41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9A7CE2-0C3B-4097-9CE1-BE957E6B5FBE}" type="slidenum">
              <a:rPr lang="en-US" smtClean="0"/>
              <a:t>‹#›</a:t>
            </a:fld>
            <a:endParaRPr lang="en-US"/>
          </a:p>
        </p:txBody>
      </p:sp>
    </p:spTree>
    <p:extLst>
      <p:ext uri="{BB962C8B-B14F-4D97-AF65-F5344CB8AC3E}">
        <p14:creationId xmlns:p14="http://schemas.microsoft.com/office/powerpoint/2010/main" val="143038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681F64-7728-44D3-B216-D9D74E33F41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9A7CE2-0C3B-4097-9CE1-BE957E6B5FBE}" type="slidenum">
              <a:rPr lang="en-US" smtClean="0"/>
              <a:t>‹#›</a:t>
            </a:fld>
            <a:endParaRPr lang="en-US"/>
          </a:p>
        </p:txBody>
      </p:sp>
    </p:spTree>
    <p:extLst>
      <p:ext uri="{BB962C8B-B14F-4D97-AF65-F5344CB8AC3E}">
        <p14:creationId xmlns:p14="http://schemas.microsoft.com/office/powerpoint/2010/main" val="473692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681F64-7728-44D3-B216-D9D74E33F41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9A7CE2-0C3B-4097-9CE1-BE957E6B5FBE}" type="slidenum">
              <a:rPr lang="en-US" smtClean="0"/>
              <a:t>‹#›</a:t>
            </a:fld>
            <a:endParaRPr lang="en-US"/>
          </a:p>
        </p:txBody>
      </p:sp>
    </p:spTree>
    <p:extLst>
      <p:ext uri="{BB962C8B-B14F-4D97-AF65-F5344CB8AC3E}">
        <p14:creationId xmlns:p14="http://schemas.microsoft.com/office/powerpoint/2010/main" val="3282628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681F64-7728-44D3-B216-D9D74E33F41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9A7CE2-0C3B-4097-9CE1-BE957E6B5FBE}" type="slidenum">
              <a:rPr lang="en-US" smtClean="0"/>
              <a:t>‹#›</a:t>
            </a:fld>
            <a:endParaRPr lang="en-US"/>
          </a:p>
        </p:txBody>
      </p:sp>
    </p:spTree>
    <p:extLst>
      <p:ext uri="{BB962C8B-B14F-4D97-AF65-F5344CB8AC3E}">
        <p14:creationId xmlns:p14="http://schemas.microsoft.com/office/powerpoint/2010/main" val="3513442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681F64-7728-44D3-B216-D9D74E33F41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9A7CE2-0C3B-4097-9CE1-BE957E6B5FBE}" type="slidenum">
              <a:rPr lang="en-US" smtClean="0"/>
              <a:t>‹#›</a:t>
            </a:fld>
            <a:endParaRPr lang="en-US"/>
          </a:p>
        </p:txBody>
      </p:sp>
    </p:spTree>
    <p:extLst>
      <p:ext uri="{BB962C8B-B14F-4D97-AF65-F5344CB8AC3E}">
        <p14:creationId xmlns:p14="http://schemas.microsoft.com/office/powerpoint/2010/main" val="3804333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681F64-7728-44D3-B216-D9D74E33F41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9A7CE2-0C3B-4097-9CE1-BE957E6B5FB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100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81F64-7728-44D3-B216-D9D74E33F41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9A7CE2-0C3B-4097-9CE1-BE957E6B5FBE}" type="slidenum">
              <a:rPr lang="en-US" smtClean="0"/>
              <a:t>‹#›</a:t>
            </a:fld>
            <a:endParaRPr lang="en-US"/>
          </a:p>
        </p:txBody>
      </p:sp>
    </p:spTree>
    <p:extLst>
      <p:ext uri="{BB962C8B-B14F-4D97-AF65-F5344CB8AC3E}">
        <p14:creationId xmlns:p14="http://schemas.microsoft.com/office/powerpoint/2010/main" val="3523122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81F64-7728-44D3-B216-D9D74E33F41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9A7CE2-0C3B-4097-9CE1-BE957E6B5FBE}"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4420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2681F64-7728-44D3-B216-D9D74E33F414}" type="datetimeFigureOut">
              <a:rPr lang="en-US" smtClean="0"/>
              <a:t>5/8/2026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49A7CE2-0C3B-4097-9CE1-BE957E6B5FBE}"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8017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pharmaverse.github.io/blog/posts/2025-02-17_data__packages/data__packages.html" TargetMode="Externa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academy.hsoub.com/questions/16603-%C2%A0%D8%AA%D8%B1%D9%85%D9%8A%D8%B2-%D8%A7%D9%84%D8%A8%D9%8A%D8%A7%D9%86%D8%A7%D8%AA-%D8%A7%D9%84%D9%86%D8%B5%D9%8A%D8%A9-%D9%83%D8%B3%D9%84%D8%A7%D8%B3%D9%84%C2%A0%D9%85%D9%86-%D8%A7%D9%84%D8%A3%D8%B9%D8%AF%D8%A7%D8%AF-%D8%A7%D9%84%D8%B5%D8%AD%D9%8A%D8%AD%D8%A9-%D8%A8%D8%A7%D8%B3%D8%AA%D8%AE%D8%AF%D8%A7%D9%85-%D9%85%D9%81%D9%87%D9%88%D9%85-%D8%A7%D9%84-tokenization-%D9%81%D9%8A-%D9%83%D9%8A%D8%B1%D8%A7%D8%B3-keras/"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technofaq.org/posts/2018/01/the-role-of-big-data-in-strengthening-machine-learning-projects/" TargetMode="External"/><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techscene.tistory.com/entry/%EC%B3%87GPT-%EB%B0%8F-LLaMA-LLM-%EB%B6%84%EC%95%BC-%ED%94%84%EB%A6%AC%ED%8A%B8%EB%A0%88%EC%9D%B4%EB%8B%9D%EA%B3%BC-Fine-Tuning-%EC%A4%91%EC%9A%94%EC%84%B1-LLM-ChatGPT"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kharshit.github.io/blog/2018/04/20/don't-use-sigmoid-neural-nets" TargetMode="External"/><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hyperlink" Target="https://creativecommons.org/licenses/by-nc/3.0/"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picpedia.org/chalkboard/e/evaluation.html" TargetMode="External"/><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76F62-F54D-8FDB-823C-45C7A7943D11}"/>
              </a:ext>
            </a:extLst>
          </p:cNvPr>
          <p:cNvSpPr>
            <a:spLocks noGrp="1"/>
          </p:cNvSpPr>
          <p:nvPr>
            <p:ph type="ctrTitle"/>
          </p:nvPr>
        </p:nvSpPr>
        <p:spPr/>
        <p:txBody>
          <a:bodyPr/>
          <a:lstStyle/>
          <a:p>
            <a:r>
              <a:rPr lang="en-US" dirty="0"/>
              <a:t>Large Language Models </a:t>
            </a:r>
          </a:p>
        </p:txBody>
      </p:sp>
      <p:sp>
        <p:nvSpPr>
          <p:cNvPr id="3" name="Subtitle 2">
            <a:extLst>
              <a:ext uri="{FF2B5EF4-FFF2-40B4-BE49-F238E27FC236}">
                <a16:creationId xmlns:a16="http://schemas.microsoft.com/office/drawing/2014/main" id="{B32A5D7F-B76F-B817-9BBD-B9E6DCBAD9D6}"/>
              </a:ext>
            </a:extLst>
          </p:cNvPr>
          <p:cNvSpPr>
            <a:spLocks noGrp="1"/>
          </p:cNvSpPr>
          <p:nvPr>
            <p:ph type="subTitle" idx="1"/>
          </p:nvPr>
        </p:nvSpPr>
        <p:spPr/>
        <p:txBody>
          <a:bodyPr/>
          <a:lstStyle/>
          <a:p>
            <a:r>
              <a:rPr lang="en-US" dirty="0"/>
              <a:t>By Torey Akers</a:t>
            </a:r>
          </a:p>
        </p:txBody>
      </p:sp>
    </p:spTree>
    <p:extLst>
      <p:ext uri="{BB962C8B-B14F-4D97-AF65-F5344CB8AC3E}">
        <p14:creationId xmlns:p14="http://schemas.microsoft.com/office/powerpoint/2010/main" val="329357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FAE1107-CEC3-4041-8BAA-CDB6F6759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CB75B8-29C1-35A1-3E65-E69E1A992CBD}"/>
              </a:ext>
            </a:extLst>
          </p:cNvPr>
          <p:cNvSpPr>
            <a:spLocks noGrp="1"/>
          </p:cNvSpPr>
          <p:nvPr>
            <p:ph type="title"/>
          </p:nvPr>
        </p:nvSpPr>
        <p:spPr>
          <a:xfrm>
            <a:off x="1024129" y="585216"/>
            <a:ext cx="3779085" cy="1499616"/>
          </a:xfrm>
        </p:spPr>
        <p:txBody>
          <a:bodyPr>
            <a:normAutofit/>
          </a:bodyPr>
          <a:lstStyle/>
          <a:p>
            <a:r>
              <a:rPr lang="en-US" sz="3900">
                <a:solidFill>
                  <a:srgbClr val="FFFFFF"/>
                </a:solidFill>
              </a:rPr>
              <a:t> Training process of generative AI LLMs</a:t>
            </a:r>
          </a:p>
        </p:txBody>
      </p:sp>
      <p:cxnSp>
        <p:nvCxnSpPr>
          <p:cNvPr id="12" name="Straight Connector 11">
            <a:extLst>
              <a:ext uri="{FF2B5EF4-FFF2-40B4-BE49-F238E27FC236}">
                <a16:creationId xmlns:a16="http://schemas.microsoft.com/office/drawing/2014/main" id="{1AEA88FB-F5DD-45CE-AAE1-7B33D0ABDD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605E17B-B834-FC98-81AA-53537358038E}"/>
              </a:ext>
            </a:extLst>
          </p:cNvPr>
          <p:cNvSpPr>
            <a:spLocks noGrp="1"/>
          </p:cNvSpPr>
          <p:nvPr>
            <p:ph idx="1"/>
          </p:nvPr>
        </p:nvSpPr>
        <p:spPr>
          <a:xfrm>
            <a:off x="1024129" y="2286000"/>
            <a:ext cx="3791711" cy="3931920"/>
          </a:xfrm>
        </p:spPr>
        <p:txBody>
          <a:bodyPr>
            <a:normAutofit/>
          </a:bodyPr>
          <a:lstStyle/>
          <a:p>
            <a:r>
              <a:rPr lang="en-US">
                <a:solidFill>
                  <a:srgbClr val="FFFFFF"/>
                </a:solidFill>
              </a:rPr>
              <a:t>Large language models learns from patterns and probabilities. In the process the text in a dataset is broken into tokens. The model is given a sequence of words and the model attempts to predict the next word. The end goal of the training process is for the model to be able to produce writings, conversations, and reasoning on a human like level. </a:t>
            </a:r>
          </a:p>
        </p:txBody>
      </p:sp>
      <p:pic>
        <p:nvPicPr>
          <p:cNvPr id="5" name="Picture 4" descr="Abstract background of data">
            <a:extLst>
              <a:ext uri="{FF2B5EF4-FFF2-40B4-BE49-F238E27FC236}">
                <a16:creationId xmlns:a16="http://schemas.microsoft.com/office/drawing/2014/main" id="{FDADCC23-9CD9-72CE-B648-81D3FD5F5F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894522"/>
            <a:ext cx="5455921" cy="3068955"/>
          </a:xfrm>
          <a:prstGeom prst="rect">
            <a:avLst/>
          </a:prstGeom>
        </p:spPr>
      </p:pic>
    </p:spTree>
    <p:extLst>
      <p:ext uri="{BB962C8B-B14F-4D97-AF65-F5344CB8AC3E}">
        <p14:creationId xmlns:p14="http://schemas.microsoft.com/office/powerpoint/2010/main" val="2074786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23430B4-C2B6-48DA-A79F-757492AF8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DA0A53-F2EE-9759-D434-75CDD0E9C51A}"/>
              </a:ext>
            </a:extLst>
          </p:cNvPr>
          <p:cNvSpPr>
            <a:spLocks noGrp="1"/>
          </p:cNvSpPr>
          <p:nvPr>
            <p:ph type="title"/>
          </p:nvPr>
        </p:nvSpPr>
        <p:spPr>
          <a:xfrm>
            <a:off x="1024128" y="459317"/>
            <a:ext cx="4389120" cy="1749552"/>
          </a:xfrm>
        </p:spPr>
        <p:txBody>
          <a:bodyPr>
            <a:normAutofit/>
          </a:bodyPr>
          <a:lstStyle/>
          <a:p>
            <a:r>
              <a:rPr lang="en-US" sz="4400"/>
              <a:t>Collecting and processing Data </a:t>
            </a:r>
          </a:p>
        </p:txBody>
      </p:sp>
      <p:cxnSp>
        <p:nvCxnSpPr>
          <p:cNvPr id="13" name="Straight Connector 12">
            <a:extLst>
              <a:ext uri="{FF2B5EF4-FFF2-40B4-BE49-F238E27FC236}">
                <a16:creationId xmlns:a16="http://schemas.microsoft.com/office/drawing/2014/main" id="{7153BDBF-1B08-496E-BED4-E0DE721A00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C8B6A11-8E12-A0E5-995A-5AEDD0B1FF73}"/>
              </a:ext>
            </a:extLst>
          </p:cNvPr>
          <p:cNvSpPr>
            <a:spLocks noGrp="1"/>
          </p:cNvSpPr>
          <p:nvPr>
            <p:ph idx="1"/>
          </p:nvPr>
        </p:nvSpPr>
        <p:spPr>
          <a:xfrm>
            <a:off x="1024129" y="2286000"/>
            <a:ext cx="4389120" cy="3931920"/>
          </a:xfrm>
        </p:spPr>
        <p:txBody>
          <a:bodyPr>
            <a:normAutofit/>
          </a:bodyPr>
          <a:lstStyle/>
          <a:p>
            <a:pPr lvl="1"/>
            <a:r>
              <a:rPr lang="en-US"/>
              <a:t>This process consist of gathering and massive diverse text datasets</a:t>
            </a:r>
          </a:p>
          <a:p>
            <a:pPr lvl="1"/>
            <a:r>
              <a:rPr lang="en-US"/>
              <a:t>These datasets must be cleaned, tokenized and  normalized . This ensure that the data is high quality which his needed to improve accuracy and reduce hallucinations.  </a:t>
            </a:r>
          </a:p>
        </p:txBody>
      </p:sp>
      <p:pic>
        <p:nvPicPr>
          <p:cNvPr id="5" name="Picture 4">
            <a:extLst>
              <a:ext uri="{FF2B5EF4-FFF2-40B4-BE49-F238E27FC236}">
                <a16:creationId xmlns:a16="http://schemas.microsoft.com/office/drawing/2014/main" id="{ACCFF1B5-3255-42A7-3090-69C8A7CF4D6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12"/>
          <a:stretch>
            <a:fillRect/>
          </a:stretch>
        </p:blipFill>
        <p:spPr>
          <a:xfrm>
            <a:off x="7056116" y="1924815"/>
            <a:ext cx="4175762" cy="3011462"/>
          </a:xfrm>
          <a:prstGeom prst="rect">
            <a:avLst/>
          </a:prstGeom>
        </p:spPr>
      </p:pic>
      <p:sp>
        <p:nvSpPr>
          <p:cNvPr id="6" name="TextBox 5">
            <a:extLst>
              <a:ext uri="{FF2B5EF4-FFF2-40B4-BE49-F238E27FC236}">
                <a16:creationId xmlns:a16="http://schemas.microsoft.com/office/drawing/2014/main" id="{50A12E2E-C63A-CAE3-1899-A593B77795FD}"/>
              </a:ext>
            </a:extLst>
          </p:cNvPr>
          <p:cNvSpPr txBox="1"/>
          <p:nvPr/>
        </p:nvSpPr>
        <p:spPr>
          <a:xfrm>
            <a:off x="9112387" y="4736222"/>
            <a:ext cx="2119491"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pharmaverse.github.io/blog/posts/2025-02-17_data__packages/data__packages.html">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endParaRPr>
          </a:p>
        </p:txBody>
      </p:sp>
    </p:spTree>
    <p:extLst>
      <p:ext uri="{BB962C8B-B14F-4D97-AF65-F5344CB8AC3E}">
        <p14:creationId xmlns:p14="http://schemas.microsoft.com/office/powerpoint/2010/main" val="1852215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AE1107-CEC3-4041-8BAA-CDB6F6759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C7E7E6-212E-E6FA-603F-09A2564F8203}"/>
              </a:ext>
            </a:extLst>
          </p:cNvPr>
          <p:cNvSpPr>
            <a:spLocks noGrp="1"/>
          </p:cNvSpPr>
          <p:nvPr>
            <p:ph type="title"/>
          </p:nvPr>
        </p:nvSpPr>
        <p:spPr>
          <a:xfrm>
            <a:off x="1024129" y="585216"/>
            <a:ext cx="3779085" cy="1499616"/>
          </a:xfrm>
        </p:spPr>
        <p:txBody>
          <a:bodyPr>
            <a:normAutofit/>
          </a:bodyPr>
          <a:lstStyle/>
          <a:p>
            <a:r>
              <a:rPr lang="en-US">
                <a:solidFill>
                  <a:srgbClr val="FFFFFF"/>
                </a:solidFill>
              </a:rPr>
              <a:t>Tokenization </a:t>
            </a:r>
          </a:p>
        </p:txBody>
      </p:sp>
      <p:cxnSp>
        <p:nvCxnSpPr>
          <p:cNvPr id="16" name="Straight Connector 15">
            <a:extLst>
              <a:ext uri="{FF2B5EF4-FFF2-40B4-BE49-F238E27FC236}">
                <a16:creationId xmlns:a16="http://schemas.microsoft.com/office/drawing/2014/main" id="{1AEA88FB-F5DD-45CE-AAE1-7B33D0ABDD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B966846-B50E-E8FF-C5CD-702CF4CF1043}"/>
              </a:ext>
            </a:extLst>
          </p:cNvPr>
          <p:cNvSpPr>
            <a:spLocks noGrp="1"/>
          </p:cNvSpPr>
          <p:nvPr>
            <p:ph idx="1"/>
          </p:nvPr>
        </p:nvSpPr>
        <p:spPr>
          <a:xfrm>
            <a:off x="1024129" y="2286000"/>
            <a:ext cx="3791711" cy="3931920"/>
          </a:xfrm>
        </p:spPr>
        <p:txBody>
          <a:bodyPr>
            <a:normAutofit/>
          </a:bodyPr>
          <a:lstStyle/>
          <a:p>
            <a:r>
              <a:rPr lang="en-US">
                <a:solidFill>
                  <a:srgbClr val="FFFFFF"/>
                </a:solidFill>
              </a:rPr>
              <a:t>Breaks each word in the text, the raw text, into single tokens. These token transform the text in  dataset to numbers so that the model can process them. </a:t>
            </a:r>
          </a:p>
          <a:p>
            <a:endParaRPr lang="en-US">
              <a:solidFill>
                <a:srgbClr val="FFFFFF"/>
              </a:solidFill>
            </a:endParaRPr>
          </a:p>
        </p:txBody>
      </p:sp>
      <p:pic>
        <p:nvPicPr>
          <p:cNvPr id="8" name="Picture 7">
            <a:extLst>
              <a:ext uri="{FF2B5EF4-FFF2-40B4-BE49-F238E27FC236}">
                <a16:creationId xmlns:a16="http://schemas.microsoft.com/office/drawing/2014/main" id="{410C7C44-A897-9224-2E8B-E53567270DB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388" r="19986" b="-2"/>
          <a:stretch>
            <a:fillRect/>
          </a:stretch>
        </p:blipFill>
        <p:spPr>
          <a:xfrm>
            <a:off x="6096000" y="1461660"/>
            <a:ext cx="5455921" cy="3934679"/>
          </a:xfrm>
          <a:prstGeom prst="rect">
            <a:avLst/>
          </a:prstGeom>
        </p:spPr>
      </p:pic>
      <p:sp>
        <p:nvSpPr>
          <p:cNvPr id="9" name="TextBox 8">
            <a:extLst>
              <a:ext uri="{FF2B5EF4-FFF2-40B4-BE49-F238E27FC236}">
                <a16:creationId xmlns:a16="http://schemas.microsoft.com/office/drawing/2014/main" id="{D910003B-8796-2FCC-CE15-9932774E7358}"/>
              </a:ext>
            </a:extLst>
          </p:cNvPr>
          <p:cNvSpPr txBox="1"/>
          <p:nvPr/>
        </p:nvSpPr>
        <p:spPr>
          <a:xfrm>
            <a:off x="9158317" y="5196284"/>
            <a:ext cx="2393604"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academy.hsoub.com/questions/16603-%C2%A0%D8%AA%D8%B1%D9%85%D9%8A%D8%B2-%D8%A7%D9%84%D8%A8%D9%8A%D8%A7%D9%86%D8%A7%D8%AA-%D8%A7%D9%84%D9%86%D8%B5%D9%8A%D8%A9-%D9%83%D8%B3%D9%84%D8%A7%D8%B3%D9%84%C2%A0%D9%85%D9%86-%D8%A7%D9%84%D8%A3%D8%B9%D8%AF%D8%A7%D8%AF-%D8%A7%D9%84%D8%B5%D8%AD%D9%8A%D8%AD%D8%A9-%D8%A8%D8%A7%D8%B3%D8%AA%D8%AE%D8%AF%D8%A7%D9%85-%D9%85%D9%81%D9%87%D9%88%D9%85-%D8%A7%D9%84-tokenization-%D9%81%D9%8A-%D9%83%D9%8A%D8%B1%D8%A7%D8%B3-kera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US" sz="700">
              <a:solidFill>
                <a:srgbClr val="FFFFFF"/>
              </a:solidFill>
            </a:endParaRPr>
          </a:p>
        </p:txBody>
      </p:sp>
    </p:spTree>
    <p:extLst>
      <p:ext uri="{BB962C8B-B14F-4D97-AF65-F5344CB8AC3E}">
        <p14:creationId xmlns:p14="http://schemas.microsoft.com/office/powerpoint/2010/main" val="243842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23430B4-C2B6-48DA-A79F-757492AF8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AF58DD-BD86-1AE4-5C85-711D80C63AA4}"/>
              </a:ext>
            </a:extLst>
          </p:cNvPr>
          <p:cNvSpPr>
            <a:spLocks noGrp="1"/>
          </p:cNvSpPr>
          <p:nvPr>
            <p:ph type="title"/>
          </p:nvPr>
        </p:nvSpPr>
        <p:spPr>
          <a:xfrm>
            <a:off x="1024128" y="459317"/>
            <a:ext cx="4389120" cy="1749552"/>
          </a:xfrm>
        </p:spPr>
        <p:txBody>
          <a:bodyPr>
            <a:normAutofit/>
          </a:bodyPr>
          <a:lstStyle/>
          <a:p>
            <a:r>
              <a:rPr lang="en-US" sz="4400"/>
              <a:t>Pre Training </a:t>
            </a:r>
          </a:p>
        </p:txBody>
      </p:sp>
      <p:cxnSp>
        <p:nvCxnSpPr>
          <p:cNvPr id="16" name="Straight Connector 15">
            <a:extLst>
              <a:ext uri="{FF2B5EF4-FFF2-40B4-BE49-F238E27FC236}">
                <a16:creationId xmlns:a16="http://schemas.microsoft.com/office/drawing/2014/main" id="{7153BDBF-1B08-496E-BED4-E0DE721A00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ADEAB00-1345-75BF-3218-41602000B1CB}"/>
              </a:ext>
            </a:extLst>
          </p:cNvPr>
          <p:cNvSpPr>
            <a:spLocks noGrp="1"/>
          </p:cNvSpPr>
          <p:nvPr>
            <p:ph idx="1"/>
          </p:nvPr>
        </p:nvSpPr>
        <p:spPr>
          <a:xfrm>
            <a:off x="1024129" y="2286000"/>
            <a:ext cx="4389120" cy="3931920"/>
          </a:xfrm>
        </p:spPr>
        <p:txBody>
          <a:bodyPr>
            <a:normAutofit/>
          </a:bodyPr>
          <a:lstStyle/>
          <a:p>
            <a:r>
              <a:rPr lang="en-US" sz="1800" dirty="0"/>
              <a:t>The model learns general patterns from the entire dataset.  This is accomplished by showing the models a sequence of text with a word in the text hidden or removed. The model tries to predict the hidden or missing word.</a:t>
            </a:r>
          </a:p>
          <a:p>
            <a:r>
              <a:rPr lang="en-US" sz="1800" dirty="0"/>
              <a:t>Once the model makes a prediction, the loss functions measures how wrong the prediction is from the actual answer. </a:t>
            </a:r>
          </a:p>
          <a:p>
            <a:r>
              <a:rPr lang="en-US" sz="1800" dirty="0"/>
              <a:t>The process could last or weeks and up </a:t>
            </a:r>
            <a:r>
              <a:rPr lang="en-US" sz="1800"/>
              <a:t>to months. </a:t>
            </a:r>
          </a:p>
        </p:txBody>
      </p:sp>
      <p:pic>
        <p:nvPicPr>
          <p:cNvPr id="5" name="Picture 4">
            <a:extLst>
              <a:ext uri="{FF2B5EF4-FFF2-40B4-BE49-F238E27FC236}">
                <a16:creationId xmlns:a16="http://schemas.microsoft.com/office/drawing/2014/main" id="{8803622D-BAA9-4912-16F0-DBDEA0734FE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056116" y="2470121"/>
            <a:ext cx="4175762" cy="1920850"/>
          </a:xfrm>
          <a:prstGeom prst="rect">
            <a:avLst/>
          </a:prstGeom>
        </p:spPr>
      </p:pic>
      <p:sp>
        <p:nvSpPr>
          <p:cNvPr id="6" name="TextBox 5">
            <a:extLst>
              <a:ext uri="{FF2B5EF4-FFF2-40B4-BE49-F238E27FC236}">
                <a16:creationId xmlns:a16="http://schemas.microsoft.com/office/drawing/2014/main" id="{B8C70A5F-6A66-0AC5-A91D-D02AD359218B}"/>
              </a:ext>
            </a:extLst>
          </p:cNvPr>
          <p:cNvSpPr txBox="1"/>
          <p:nvPr/>
        </p:nvSpPr>
        <p:spPr>
          <a:xfrm>
            <a:off x="8838274" y="4190916"/>
            <a:ext cx="2393604"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technofaq.org/posts/2018/01/the-role-of-big-data-in-strengthening-machine-learning-project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US" sz="700">
              <a:solidFill>
                <a:srgbClr val="FFFFFF"/>
              </a:solidFill>
            </a:endParaRPr>
          </a:p>
        </p:txBody>
      </p:sp>
    </p:spTree>
    <p:extLst>
      <p:ext uri="{BB962C8B-B14F-4D97-AF65-F5344CB8AC3E}">
        <p14:creationId xmlns:p14="http://schemas.microsoft.com/office/powerpoint/2010/main" val="1228128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FAE1107-CEC3-4041-8BAA-CDB6F6759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CF28FD-782A-78BB-4EDD-6DDC352D07A1}"/>
              </a:ext>
            </a:extLst>
          </p:cNvPr>
          <p:cNvSpPr>
            <a:spLocks noGrp="1"/>
          </p:cNvSpPr>
          <p:nvPr>
            <p:ph type="title"/>
          </p:nvPr>
        </p:nvSpPr>
        <p:spPr>
          <a:xfrm>
            <a:off x="1024129" y="585216"/>
            <a:ext cx="3779085" cy="1499616"/>
          </a:xfrm>
        </p:spPr>
        <p:txBody>
          <a:bodyPr>
            <a:normAutofit/>
          </a:bodyPr>
          <a:lstStyle/>
          <a:p>
            <a:r>
              <a:rPr lang="en-US">
                <a:solidFill>
                  <a:srgbClr val="FFFFFF"/>
                </a:solidFill>
              </a:rPr>
              <a:t>Fine Tuning </a:t>
            </a:r>
          </a:p>
        </p:txBody>
      </p:sp>
      <p:cxnSp>
        <p:nvCxnSpPr>
          <p:cNvPr id="13" name="Straight Connector 12">
            <a:extLst>
              <a:ext uri="{FF2B5EF4-FFF2-40B4-BE49-F238E27FC236}">
                <a16:creationId xmlns:a16="http://schemas.microsoft.com/office/drawing/2014/main" id="{1AEA88FB-F5DD-45CE-AAE1-7B33D0ABDD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D2AB946-A549-6522-2A0B-0FFCEA639808}"/>
              </a:ext>
            </a:extLst>
          </p:cNvPr>
          <p:cNvSpPr>
            <a:spLocks noGrp="1"/>
          </p:cNvSpPr>
          <p:nvPr>
            <p:ph idx="1"/>
          </p:nvPr>
        </p:nvSpPr>
        <p:spPr>
          <a:xfrm>
            <a:off x="1024129" y="2286000"/>
            <a:ext cx="3791711" cy="3931920"/>
          </a:xfrm>
        </p:spPr>
        <p:txBody>
          <a:bodyPr>
            <a:normAutofit/>
          </a:bodyPr>
          <a:lstStyle/>
          <a:p>
            <a:r>
              <a:rPr lang="en-US" sz="2000">
                <a:solidFill>
                  <a:srgbClr val="FFFFFF"/>
                </a:solidFill>
              </a:rPr>
              <a:t>Now that the text in the dataset is clean and tokenized, the models needs to know how to be helpful, safe, and task specific. </a:t>
            </a:r>
          </a:p>
          <a:p>
            <a:r>
              <a:rPr lang="en-US" sz="2000">
                <a:solidFill>
                  <a:srgbClr val="FFFFFF"/>
                </a:solidFill>
              </a:rPr>
              <a:t>Fine tuning is when the model is trained on smaller, labeled datasets  to specialize in specific tasks or domains.</a:t>
            </a:r>
          </a:p>
          <a:p>
            <a:r>
              <a:rPr lang="en-US" sz="2000">
                <a:solidFill>
                  <a:srgbClr val="FFFFFF"/>
                </a:solidFill>
              </a:rPr>
              <a:t>The goal of fine tuning is for the model to be able to in specialize in specific task or domains. </a:t>
            </a:r>
          </a:p>
        </p:txBody>
      </p:sp>
      <p:pic>
        <p:nvPicPr>
          <p:cNvPr id="5" name="Picture 4">
            <a:extLst>
              <a:ext uri="{FF2B5EF4-FFF2-40B4-BE49-F238E27FC236}">
                <a16:creationId xmlns:a16="http://schemas.microsoft.com/office/drawing/2014/main" id="{96E6A66B-A008-EC4F-F3A1-72EF51EB053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2" b="17108"/>
          <a:stretch>
            <a:fillRect/>
          </a:stretch>
        </p:blipFill>
        <p:spPr>
          <a:xfrm>
            <a:off x="6096000" y="1461664"/>
            <a:ext cx="5455921" cy="3934672"/>
          </a:xfrm>
          <a:prstGeom prst="rect">
            <a:avLst/>
          </a:prstGeom>
        </p:spPr>
      </p:pic>
      <p:sp>
        <p:nvSpPr>
          <p:cNvPr id="6" name="TextBox 5">
            <a:extLst>
              <a:ext uri="{FF2B5EF4-FFF2-40B4-BE49-F238E27FC236}">
                <a16:creationId xmlns:a16="http://schemas.microsoft.com/office/drawing/2014/main" id="{A5D7603A-FC69-140B-609D-940E97D2AD4C}"/>
              </a:ext>
            </a:extLst>
          </p:cNvPr>
          <p:cNvSpPr txBox="1"/>
          <p:nvPr/>
        </p:nvSpPr>
        <p:spPr>
          <a:xfrm>
            <a:off x="9143891" y="5196281"/>
            <a:ext cx="2408030"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techscene.tistory.com/entry/%EC%B3%87GPT-%EB%B0%8F-LLaMA-LLM-%EB%B6%84%EC%95%BC-%ED%94%84%EB%A6%AC%ED%8A%B8%EB%A0%88%EC%9D%B4%EB%8B%9D%EA%B3%BC-Fine-Tuning-%EC%A4%91%EC%9A%94%EC%84%B1-LLM-ChatGPT">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US" sz="700">
              <a:solidFill>
                <a:srgbClr val="FFFFFF"/>
              </a:solidFill>
            </a:endParaRPr>
          </a:p>
        </p:txBody>
      </p:sp>
    </p:spTree>
    <p:extLst>
      <p:ext uri="{BB962C8B-B14F-4D97-AF65-F5344CB8AC3E}">
        <p14:creationId xmlns:p14="http://schemas.microsoft.com/office/powerpoint/2010/main" val="979101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23430B4-C2B6-48DA-A79F-757492AF8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FDA1F7-DAD8-E1FD-BBBF-0DE32DAA0274}"/>
              </a:ext>
            </a:extLst>
          </p:cNvPr>
          <p:cNvSpPr>
            <a:spLocks noGrp="1"/>
          </p:cNvSpPr>
          <p:nvPr>
            <p:ph type="title"/>
          </p:nvPr>
        </p:nvSpPr>
        <p:spPr>
          <a:xfrm>
            <a:off x="1024128" y="459317"/>
            <a:ext cx="4389120" cy="1749552"/>
          </a:xfrm>
        </p:spPr>
        <p:txBody>
          <a:bodyPr>
            <a:normAutofit/>
          </a:bodyPr>
          <a:lstStyle/>
          <a:p>
            <a:r>
              <a:rPr lang="en-US" sz="4400"/>
              <a:t>Reinforcement learning from Human Feedback</a:t>
            </a:r>
          </a:p>
        </p:txBody>
      </p:sp>
      <p:cxnSp>
        <p:nvCxnSpPr>
          <p:cNvPr id="22" name="Straight Connector 21">
            <a:extLst>
              <a:ext uri="{FF2B5EF4-FFF2-40B4-BE49-F238E27FC236}">
                <a16:creationId xmlns:a16="http://schemas.microsoft.com/office/drawing/2014/main" id="{7153BDBF-1B08-496E-BED4-E0DE721A00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C278999-888B-B0DE-3771-BA6ACEF2B42F}"/>
              </a:ext>
            </a:extLst>
          </p:cNvPr>
          <p:cNvSpPr>
            <a:spLocks noGrp="1"/>
          </p:cNvSpPr>
          <p:nvPr>
            <p:ph idx="1"/>
          </p:nvPr>
        </p:nvSpPr>
        <p:spPr>
          <a:xfrm>
            <a:off x="1024129" y="2286000"/>
            <a:ext cx="4389120" cy="3931920"/>
          </a:xfrm>
        </p:spPr>
        <p:txBody>
          <a:bodyPr>
            <a:normAutofit/>
          </a:bodyPr>
          <a:lstStyle/>
          <a:p>
            <a:r>
              <a:rPr lang="en-US" sz="1800" dirty="0"/>
              <a:t>Aligning the model's behavior with human values and preferences. The model's outputs are ranked in order for a reward model to be trained.</a:t>
            </a:r>
          </a:p>
        </p:txBody>
      </p:sp>
      <p:pic>
        <p:nvPicPr>
          <p:cNvPr id="10" name="Picture 9">
            <a:extLst>
              <a:ext uri="{FF2B5EF4-FFF2-40B4-BE49-F238E27FC236}">
                <a16:creationId xmlns:a16="http://schemas.microsoft.com/office/drawing/2014/main" id="{DBAA0C72-3E29-15D6-6DE4-BD99EBD8655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056116" y="2099522"/>
            <a:ext cx="4175762" cy="2662048"/>
          </a:xfrm>
          <a:prstGeom prst="rect">
            <a:avLst/>
          </a:prstGeom>
        </p:spPr>
      </p:pic>
      <p:sp>
        <p:nvSpPr>
          <p:cNvPr id="11" name="TextBox 10">
            <a:extLst>
              <a:ext uri="{FF2B5EF4-FFF2-40B4-BE49-F238E27FC236}">
                <a16:creationId xmlns:a16="http://schemas.microsoft.com/office/drawing/2014/main" id="{570203A5-D2AA-653B-B953-95DF27A8C241}"/>
              </a:ext>
            </a:extLst>
          </p:cNvPr>
          <p:cNvSpPr txBox="1"/>
          <p:nvPr/>
        </p:nvSpPr>
        <p:spPr>
          <a:xfrm>
            <a:off x="8968118" y="4561515"/>
            <a:ext cx="2263760"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kharshit.github.io/blog/2018/04/20/don't-use-sigmoid-neural-nets">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nc/3.0/">
                  <a:extLst>
                    <a:ext uri="{A12FA001-AC4F-418D-AE19-62706E023703}">
                      <ahyp:hlinkClr xmlns:ahyp="http://schemas.microsoft.com/office/drawing/2018/hyperlinkcolor" val="tx"/>
                    </a:ext>
                  </a:extLst>
                </a:hlinkClick>
              </a:rPr>
              <a:t>CC BY-NC</a:t>
            </a:r>
            <a:endParaRPr lang="en-US" sz="700">
              <a:solidFill>
                <a:srgbClr val="FFFFFF"/>
              </a:solidFill>
            </a:endParaRPr>
          </a:p>
        </p:txBody>
      </p:sp>
    </p:spTree>
    <p:extLst>
      <p:ext uri="{BB962C8B-B14F-4D97-AF65-F5344CB8AC3E}">
        <p14:creationId xmlns:p14="http://schemas.microsoft.com/office/powerpoint/2010/main" val="3466724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C411DB08-1669-426B-BBEB-FAD285EF8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29E4219-121F-4CD1-AA58-24746CD29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57008F-311D-589D-8B03-3B34B0C12290}"/>
              </a:ext>
            </a:extLst>
          </p:cNvPr>
          <p:cNvSpPr>
            <a:spLocks noGrp="1"/>
          </p:cNvSpPr>
          <p:nvPr>
            <p:ph type="title"/>
          </p:nvPr>
        </p:nvSpPr>
        <p:spPr>
          <a:xfrm>
            <a:off x="634276" y="640080"/>
            <a:ext cx="4208656" cy="3034857"/>
          </a:xfrm>
        </p:spPr>
        <p:txBody>
          <a:bodyPr vert="horz" lIns="91440" tIns="45720" rIns="91440" bIns="45720" rtlCol="0" anchor="b">
            <a:normAutofit/>
          </a:bodyPr>
          <a:lstStyle/>
          <a:p>
            <a:pPr algn="r"/>
            <a:r>
              <a:rPr lang="en-US" sz="4400" kern="1200" cap="all" spc="200" baseline="0">
                <a:solidFill>
                  <a:srgbClr val="FFFFFF"/>
                </a:solidFill>
                <a:latin typeface="+mj-lt"/>
                <a:ea typeface="+mj-ea"/>
                <a:cs typeface="+mj-cs"/>
              </a:rPr>
              <a:t>Evaluation </a:t>
            </a:r>
          </a:p>
        </p:txBody>
      </p:sp>
      <p:sp>
        <p:nvSpPr>
          <p:cNvPr id="3" name="Content Placeholder 2">
            <a:extLst>
              <a:ext uri="{FF2B5EF4-FFF2-40B4-BE49-F238E27FC236}">
                <a16:creationId xmlns:a16="http://schemas.microsoft.com/office/drawing/2014/main" id="{976C77BF-0657-BD23-48D5-D8C6F658C3B0}"/>
              </a:ext>
            </a:extLst>
          </p:cNvPr>
          <p:cNvSpPr>
            <a:spLocks noGrp="1"/>
          </p:cNvSpPr>
          <p:nvPr>
            <p:ph idx="1"/>
          </p:nvPr>
        </p:nvSpPr>
        <p:spPr>
          <a:xfrm>
            <a:off x="638921" y="3849539"/>
            <a:ext cx="4204012" cy="2359417"/>
          </a:xfrm>
        </p:spPr>
        <p:txBody>
          <a:bodyPr vert="horz" lIns="91440" tIns="45720" rIns="91440" bIns="45720" rtlCol="0" anchor="t">
            <a:normAutofit/>
          </a:bodyPr>
          <a:lstStyle/>
          <a:p>
            <a:pPr marL="0" indent="0" algn="r">
              <a:lnSpc>
                <a:spcPct val="100000"/>
              </a:lnSpc>
              <a:spcBef>
                <a:spcPts val="0"/>
              </a:spcBef>
              <a:buNone/>
            </a:pPr>
            <a:r>
              <a:rPr lang="en-US" sz="1600" dirty="0">
                <a:solidFill>
                  <a:srgbClr val="FFFFFF"/>
                </a:solidFill>
              </a:rPr>
              <a:t>The model is tested on new or unseen data to evaluate the models accuracy and coherence. </a:t>
            </a:r>
          </a:p>
        </p:txBody>
      </p:sp>
      <p:cxnSp>
        <p:nvCxnSpPr>
          <p:cNvPr id="21" name="Straight Connector 20">
            <a:extLst>
              <a:ext uri="{FF2B5EF4-FFF2-40B4-BE49-F238E27FC236}">
                <a16:creationId xmlns:a16="http://schemas.microsoft.com/office/drawing/2014/main" id="{52F50912-06FD-4216-BAD3-21050F5956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6679" y="3765314"/>
            <a:ext cx="3931920"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F9B2A6FF-4242-0491-FB82-AEE1E4A888B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9494" b="5876"/>
          <a:stretch>
            <a:fillRect/>
          </a:stretch>
        </p:blipFill>
        <p:spPr>
          <a:xfrm>
            <a:off x="6096000" y="1887447"/>
            <a:ext cx="5459470" cy="3084082"/>
          </a:xfrm>
          <a:prstGeom prst="rect">
            <a:avLst/>
          </a:prstGeom>
        </p:spPr>
      </p:pic>
      <p:sp>
        <p:nvSpPr>
          <p:cNvPr id="6" name="TextBox 5">
            <a:extLst>
              <a:ext uri="{FF2B5EF4-FFF2-40B4-BE49-F238E27FC236}">
                <a16:creationId xmlns:a16="http://schemas.microsoft.com/office/drawing/2014/main" id="{55B231DE-61F0-2EA3-A0D8-1BC011994CDA}"/>
              </a:ext>
            </a:extLst>
          </p:cNvPr>
          <p:cNvSpPr txBox="1"/>
          <p:nvPr/>
        </p:nvSpPr>
        <p:spPr>
          <a:xfrm>
            <a:off x="9306136" y="4771474"/>
            <a:ext cx="2249334"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www.picpedia.org/chalkboard/e/evaluation.html">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1295716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B78BE-069A-4E01-35E8-65FE78FC062E}"/>
              </a:ext>
            </a:extLst>
          </p:cNvPr>
          <p:cNvSpPr>
            <a:spLocks noGrp="1"/>
          </p:cNvSpPr>
          <p:nvPr>
            <p:ph type="title"/>
          </p:nvPr>
        </p:nvSpPr>
        <p:spPr/>
        <p:txBody>
          <a:bodyPr/>
          <a:lstStyle/>
          <a:p>
            <a:r>
              <a:rPr lang="en-US" dirty="0"/>
              <a:t>Summary </a:t>
            </a:r>
          </a:p>
        </p:txBody>
      </p:sp>
      <p:sp>
        <p:nvSpPr>
          <p:cNvPr id="3" name="Content Placeholder 2">
            <a:extLst>
              <a:ext uri="{FF2B5EF4-FFF2-40B4-BE49-F238E27FC236}">
                <a16:creationId xmlns:a16="http://schemas.microsoft.com/office/drawing/2014/main" id="{46915583-B4BC-8D4A-0FCF-E69B148F9D9A}"/>
              </a:ext>
            </a:extLst>
          </p:cNvPr>
          <p:cNvSpPr>
            <a:spLocks noGrp="1"/>
          </p:cNvSpPr>
          <p:nvPr>
            <p:ph idx="1"/>
          </p:nvPr>
        </p:nvSpPr>
        <p:spPr/>
        <p:txBody>
          <a:bodyPr>
            <a:normAutofit fontScale="92500" lnSpcReduction="10000"/>
          </a:bodyPr>
          <a:lstStyle/>
          <a:p>
            <a:r>
              <a:rPr lang="en-US" dirty="0"/>
              <a:t>This visual element, created in PowerPoint, illustrates the key steps in the training process for Generative Artificial Intelligence Large Language Models (LLMs). The process includes the following stages:</a:t>
            </a:r>
          </a:p>
          <a:p>
            <a:r>
              <a:rPr lang="en-US" b="1" dirty="0"/>
              <a:t>Data Collection</a:t>
            </a:r>
            <a:endParaRPr lang="en-US" dirty="0"/>
          </a:p>
          <a:p>
            <a:r>
              <a:rPr lang="en-US" b="1" dirty="0"/>
              <a:t>Data Cleaning and Processing</a:t>
            </a:r>
            <a:endParaRPr lang="en-US" dirty="0"/>
          </a:p>
          <a:p>
            <a:r>
              <a:rPr lang="en-US" b="1" dirty="0"/>
              <a:t>Pre‑Training the Model</a:t>
            </a:r>
            <a:r>
              <a:rPr lang="en-US" dirty="0"/>
              <a:t> </a:t>
            </a:r>
          </a:p>
          <a:p>
            <a:r>
              <a:rPr lang="en-US" b="1" dirty="0"/>
              <a:t>Fine‑Tuning</a:t>
            </a:r>
            <a:endParaRPr lang="en-US" dirty="0"/>
          </a:p>
          <a:p>
            <a:r>
              <a:rPr lang="en-US" b="1" dirty="0"/>
              <a:t>Reinforcement Learning from Human Feedback (RLHF)</a:t>
            </a:r>
            <a:r>
              <a:rPr lang="en-US" dirty="0"/>
              <a:t> </a:t>
            </a:r>
          </a:p>
          <a:p>
            <a:r>
              <a:rPr lang="en-US" b="1" dirty="0"/>
              <a:t>Model Evaluation</a:t>
            </a:r>
            <a:r>
              <a:rPr lang="en-US" dirty="0"/>
              <a:t> </a:t>
            </a:r>
          </a:p>
          <a:p>
            <a:r>
              <a:rPr lang="en-US" b="1" dirty="0"/>
              <a:t>Deployment</a:t>
            </a:r>
            <a:endParaRPr lang="en-US" dirty="0"/>
          </a:p>
        </p:txBody>
      </p:sp>
    </p:spTree>
    <p:extLst>
      <p:ext uri="{BB962C8B-B14F-4D97-AF65-F5344CB8AC3E}">
        <p14:creationId xmlns:p14="http://schemas.microsoft.com/office/powerpoint/2010/main" val="1015876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452</TotalTime>
  <Words>471</Words>
  <Application>Microsoft Office PowerPoint</Application>
  <PresentationFormat>Widescreen</PresentationFormat>
  <Paragraphs>36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Tw Cen MT</vt:lpstr>
      <vt:lpstr>Tw Cen MT Condensed</vt:lpstr>
      <vt:lpstr>Wingdings 3</vt:lpstr>
      <vt:lpstr>Integral</vt:lpstr>
      <vt:lpstr>Large Language Models </vt:lpstr>
      <vt:lpstr> Training process of generative AI LLMs</vt:lpstr>
      <vt:lpstr>Collecting and processing Data </vt:lpstr>
      <vt:lpstr>Tokenization </vt:lpstr>
      <vt:lpstr>Pre Training </vt:lpstr>
      <vt:lpstr>Fine Tuning </vt:lpstr>
      <vt:lpstr>Reinforcement learning from Human Feedback</vt:lpstr>
      <vt:lpstr>Evaluation </vt:lpstr>
      <vt:lpstr>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Torey Akers</dc:creator>
  <cp:lastModifiedBy>Torey Akers</cp:lastModifiedBy>
  <cp:revision>2</cp:revision>
  <dcterms:created xsi:type="dcterms:W3CDTF">2026-05-08T03:52:54Z</dcterms:created>
  <dcterms:modified xsi:type="dcterms:W3CDTF">2026-05-09T02:55:40Z</dcterms:modified>
</cp:coreProperties>
</file>